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GesRes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Gestion des Missions Réserve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Gendarmerie Nationale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7F"/>
                </a:solidFill>
              </a:defRPr>
            </a:pPr>
            <a:r>
              <a:t>📋 Contexte et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337F"/>
                </a:solidFill>
              </a:defRPr>
            </a:pPr>
            <a:r>
              <a:t>• Besoin : </a:t>
            </a:r>
          </a:p>
          <a:p>
            <a:pPr lvl="1">
              <a:spcAft>
                <a:spcPts val="1200"/>
              </a:spcAft>
              <a:defRPr sz="1600"/>
            </a:pPr>
            <a:r>
              <a:t>Optimiser la gestion des missions pour les réservistes de la Gendarmerie</a:t>
            </a:r>
          </a:p>
          <a:p>
            <a:pPr>
              <a:defRPr sz="1800" b="1">
                <a:solidFill>
                  <a:srgbClr val="00337F"/>
                </a:solidFill>
              </a:defRPr>
            </a:pPr>
            <a:r>
              <a:t>• Problème actuel : </a:t>
            </a:r>
          </a:p>
          <a:p>
            <a:pPr lvl="1">
              <a:spcAft>
                <a:spcPts val="1200"/>
              </a:spcAft>
              <a:defRPr sz="1600"/>
            </a:pPr>
            <a:r>
              <a:t>Gestion manuelle, difficultés de coordination, manque de visibilité</a:t>
            </a:r>
          </a:p>
          <a:p>
            <a:pPr>
              <a:defRPr sz="1800" b="1">
                <a:solidFill>
                  <a:srgbClr val="00337F"/>
                </a:solidFill>
              </a:defRPr>
            </a:pPr>
            <a:r>
              <a:t>• Objectif : </a:t>
            </a:r>
          </a:p>
          <a:p>
            <a:pPr lvl="1">
              <a:spcAft>
                <a:spcPts val="1200"/>
              </a:spcAft>
              <a:defRPr sz="1600"/>
            </a:pPr>
            <a:r>
              <a:t>Digitaliser et automatiser la gestion des missions et des affectations</a:t>
            </a:r>
          </a:p>
          <a:p>
            <a:pPr>
              <a:defRPr sz="1800" b="1">
                <a:solidFill>
                  <a:srgbClr val="00337F"/>
                </a:solidFill>
              </a:defRPr>
            </a:pPr>
            <a:r>
              <a:t>• Bénéfices : </a:t>
            </a:r>
          </a:p>
          <a:p>
            <a:pPr lvl="1">
              <a:spcAft>
                <a:spcPts val="1200"/>
              </a:spcAft>
              <a:defRPr sz="1600"/>
            </a:pPr>
            <a:r>
              <a:t>Gain de temps, meilleure organisation, suivi en temps réel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7F"/>
                </a:solidFill>
              </a:defRPr>
            </a:pPr>
            <a:r>
              <a:t>💡 Solution : GesRes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800"/>
              </a:spcAft>
              <a:defRPr sz="2200" b="1">
                <a:solidFill>
                  <a:srgbClr val="00337F"/>
                </a:solidFill>
              </a:defRPr>
            </a:pPr>
            <a:r>
              <a:t>Application web 100% responsive</a:t>
            </a:r>
          </a:p>
          <a:p>
            <a:pPr>
              <a:spcAft>
                <a:spcPts val="1000"/>
              </a:spcAft>
              <a:defRPr sz="1800"/>
            </a:pPr>
            <a:r>
              <a:t>📱 Accessible sur smartphone, tablette et ordinateur</a:t>
            </a:r>
          </a:p>
          <a:p>
            <a:pPr>
              <a:spcAft>
                <a:spcPts val="1000"/>
              </a:spcAft>
              <a:defRPr sz="1800"/>
            </a:pPr>
            <a:r>
              <a:t>🌐 Déployée sur Cloudflare Pages (rapide et sécurisé)</a:t>
            </a:r>
          </a:p>
          <a:p>
            <a:pPr>
              <a:spcAft>
                <a:spcPts val="1000"/>
              </a:spcAft>
              <a:defRPr sz="1800"/>
            </a:pPr>
            <a:r>
              <a:t>🔐 Authentification sécurisée avec JWT</a:t>
            </a:r>
          </a:p>
          <a:p>
            <a:pPr>
              <a:spcAft>
                <a:spcPts val="1000"/>
              </a:spcAft>
              <a:defRPr sz="1800"/>
            </a:pPr>
            <a:r>
              <a:t>📊 Base de données D1 SQLite distribuée</a:t>
            </a:r>
          </a:p>
          <a:p>
            <a:pPr>
              <a:spcAft>
                <a:spcPts val="1000"/>
              </a:spcAft>
              <a:defRPr sz="1800"/>
            </a:pPr>
            <a:r>
              <a:t>⚡ Interface moderne et intuitive</a:t>
            </a:r>
          </a:p>
          <a:p>
            <a:pPr>
              <a:spcAft>
                <a:spcPts val="1000"/>
              </a:spcAft>
              <a:defRPr sz="1800"/>
            </a:pPr>
            <a:r>
              <a:t>🗑️ Nettoyage automatique des missions expirées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👥 Interface Publique (Gendarmes)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00337F"/>
                </a:solidFill>
              </a:defRPr>
            </a:pPr>
            <a:r>
              <a:t>Navigation hiérarchique intuitive</a:t>
            </a:r>
          </a:p>
          <a:p>
            <a:pPr lvl="1">
              <a:spcAft>
                <a:spcPts val="400"/>
              </a:spcAft>
              <a:defRPr sz="1400"/>
            </a:pPr>
            <a:r>
              <a:t>• Sélection de la compagnie</a:t>
            </a:r>
          </a:p>
          <a:p>
            <a:pPr lvl="1">
              <a:spcAft>
                <a:spcPts val="400"/>
              </a:spcAft>
              <a:defRPr sz="1400"/>
            </a:pPr>
            <a:r>
              <a:t>• Choix de la brigade</a:t>
            </a:r>
          </a:p>
          <a:p>
            <a:pPr lvl="1">
              <a:spcAft>
                <a:spcPts val="400"/>
              </a:spcAft>
              <a:defRPr sz="1400"/>
            </a:pPr>
            <a:r>
              <a:t>• Consultation des missions par mois</a:t>
            </a:r>
          </a:p>
          <a:p>
            <a:pPr lvl="1">
              <a:spcAft>
                <a:spcPts val="1200"/>
              </a:spcAft>
              <a:defRPr sz="1400"/>
            </a:pPr>
            <a:r>
              <a:t>• Fil d'ariane pour navigation rapide</a:t>
            </a:r>
          </a:p>
          <a:p>
            <a:pPr>
              <a:spcAft>
                <a:spcPts val="800"/>
              </a:spcAft>
              <a:defRPr sz="1800" b="1">
                <a:solidFill>
                  <a:srgbClr val="00337F"/>
                </a:solidFill>
              </a:defRPr>
            </a:pPr>
            <a:r>
              <a:t>Informations complètes sur les missions</a:t>
            </a:r>
          </a:p>
          <a:p>
            <a:pPr lvl="1">
              <a:spcAft>
                <a:spcPts val="400"/>
              </a:spcAft>
              <a:defRPr sz="1400"/>
            </a:pPr>
            <a:r>
              <a:t>• Titre, description et lieu</a:t>
            </a:r>
          </a:p>
          <a:p>
            <a:pPr lvl="1">
              <a:spcAft>
                <a:spcPts val="400"/>
              </a:spcAft>
              <a:defRPr sz="1400"/>
            </a:pPr>
            <a:r>
              <a:t>• Dates de début/fin et durée</a:t>
            </a:r>
          </a:p>
          <a:p>
            <a:pPr lvl="1">
              <a:spcAft>
                <a:spcPts val="400"/>
              </a:spcAft>
              <a:defRPr sz="1400"/>
            </a:pPr>
            <a:r>
              <a:t>• Priorité et effectifs requis</a:t>
            </a:r>
          </a:p>
          <a:p>
            <a:pPr lvl="1">
              <a:spcAft>
                <a:spcPts val="1200"/>
              </a:spcAft>
              <a:defRPr sz="1400"/>
            </a:pPr>
            <a:r>
              <a:t>• Gendarmes assignés (validés/en attente)</a:t>
            </a:r>
          </a:p>
          <a:p>
            <a:pPr>
              <a:spcAft>
                <a:spcPts val="800"/>
              </a:spcAft>
              <a:defRPr sz="1800" b="1">
                <a:solidFill>
                  <a:srgbClr val="00337F"/>
                </a:solidFill>
              </a:defRPr>
            </a:pPr>
            <a:r>
              <a:t>Filtres avancés</a:t>
            </a:r>
          </a:p>
          <a:p>
            <a:pPr lvl="1">
              <a:spcAft>
                <a:spcPts val="400"/>
              </a:spcAft>
              <a:defRPr sz="1400"/>
            </a:pPr>
            <a:r>
              <a:t>• Par priorité (haute/moyenne/normale)</a:t>
            </a:r>
          </a:p>
          <a:p>
            <a:pPr lvl="1">
              <a:spcAft>
                <a:spcPts val="400"/>
              </a:spcAft>
              <a:defRPr sz="1400"/>
            </a:pPr>
            <a:r>
              <a:t>• Par disponibilité (places libres)</a:t>
            </a:r>
          </a:p>
          <a:p>
            <a:pPr lvl="1">
              <a:spcAft>
                <a:spcPts val="1200"/>
              </a:spcAft>
              <a:defRPr sz="1400"/>
            </a:pPr>
            <a:r>
              <a:t>• Recherche textuelle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⚙️ Interface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📋 Gestion des Missions</a:t>
            </a:r>
          </a:p>
          <a:p>
            <a:pPr lvl="1">
              <a:spcAft>
                <a:spcPts val="300"/>
              </a:spcAft>
              <a:defRPr sz="1300"/>
            </a:pPr>
            <a:r>
              <a:t>• Création/modification/suppression</a:t>
            </a:r>
          </a:p>
          <a:p>
            <a:pPr lvl="1">
              <a:spcAft>
                <a:spcPts val="300"/>
              </a:spcAft>
              <a:defRPr sz="1300"/>
            </a:pPr>
            <a:r>
              <a:t>• Organisation par mois</a:t>
            </a:r>
          </a:p>
          <a:p>
            <a:pPr lvl="1">
              <a:spcAft>
                <a:spcPts val="800"/>
              </a:spcAft>
              <a:defRPr sz="1300"/>
            </a:pPr>
            <a:r>
              <a:t>• Export PDF par mois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🗺️ Gestion des Lieux</a:t>
            </a:r>
          </a:p>
          <a:p>
            <a:pPr lvl="1">
              <a:spcAft>
                <a:spcPts val="300"/>
              </a:spcAft>
              <a:defRPr sz="1300"/>
            </a:pPr>
            <a:r>
              <a:t>• Compagnies et brigades</a:t>
            </a:r>
          </a:p>
          <a:p>
            <a:pPr lvl="1">
              <a:spcAft>
                <a:spcPts val="300"/>
              </a:spcAft>
              <a:defRPr sz="1300"/>
            </a:pPr>
            <a:r>
              <a:t>• Informations de contact</a:t>
            </a:r>
          </a:p>
          <a:p>
            <a:pPr lvl="1">
              <a:spcAft>
                <a:spcPts val="800"/>
              </a:spcAft>
              <a:defRPr sz="1300"/>
            </a:pPr>
            <a:r>
              <a:t>• Hiérarchie organisationnelle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👤 Gestion des Gendarmes</a:t>
            </a:r>
          </a:p>
          <a:p>
            <a:pPr lvl="1">
              <a:spcAft>
                <a:spcPts val="300"/>
              </a:spcAft>
              <a:defRPr sz="1300"/>
            </a:pPr>
            <a:r>
              <a:t>• Matricule, grade, spécialité</a:t>
            </a:r>
          </a:p>
          <a:p>
            <a:pPr lvl="1">
              <a:spcAft>
                <a:spcPts val="300"/>
              </a:spcAft>
              <a:defRPr sz="1300"/>
            </a:pPr>
            <a:r>
              <a:t>• Disponibilité</a:t>
            </a:r>
          </a:p>
          <a:p>
            <a:pPr lvl="1">
              <a:spcAft>
                <a:spcPts val="800"/>
              </a:spcAft>
              <a:defRPr sz="1300"/>
            </a:pPr>
            <a:r>
              <a:t>• Recherche avancée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📊 Gestion des Assignations</a:t>
            </a:r>
          </a:p>
          <a:p>
            <a:pPr lvl="1">
              <a:spcAft>
                <a:spcPts val="300"/>
              </a:spcAft>
              <a:defRPr sz="1300"/>
            </a:pPr>
            <a:r>
              <a:t>• Affectation gendarmes/missions</a:t>
            </a:r>
          </a:p>
          <a:p>
            <a:pPr lvl="1">
              <a:spcAft>
                <a:spcPts val="300"/>
              </a:spcAft>
              <a:defRPr sz="1300"/>
            </a:pPr>
            <a:r>
              <a:t>• Statuts (libre/en attente/validé)</a:t>
            </a:r>
          </a:p>
          <a:p>
            <a:pPr lvl="1">
              <a:spcAft>
                <a:spcPts val="800"/>
              </a:spcAft>
              <a:defRPr sz="1300"/>
            </a:pPr>
            <a:r>
              <a:t>• Suivi des effectifs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📱 Version Mobile &amp; Tablette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800"/>
              </a:spcAft>
              <a:defRPr sz="2200" b="1">
                <a:solidFill>
                  <a:srgbClr val="00337F"/>
                </a:solidFill>
              </a:defRPr>
            </a:pPr>
            <a:r>
              <a:t>Interface 100% responsive (v5.0)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📱 Smartphone (&lt; 640px)</a:t>
            </a:r>
          </a:p>
          <a:p>
            <a:pPr lvl="1">
              <a:spcAft>
                <a:spcPts val="300"/>
              </a:spcAft>
              <a:defRPr sz="1300"/>
            </a:pPr>
            <a:r>
              <a:t>• Menu hamburger avec overlay</a:t>
            </a:r>
          </a:p>
          <a:p>
            <a:pPr lvl="1">
              <a:spcAft>
                <a:spcPts val="300"/>
              </a:spcAft>
              <a:defRPr sz="1300"/>
            </a:pPr>
            <a:r>
              <a:t>• Grilles 1 colonne</a:t>
            </a:r>
          </a:p>
          <a:p>
            <a:pPr lvl="1">
              <a:spcAft>
                <a:spcPts val="300"/>
              </a:spcAft>
              <a:defRPr sz="1300"/>
            </a:pPr>
            <a:r>
              <a:t>• Zones tactiles 44px minimum (norme WCAG)</a:t>
            </a:r>
          </a:p>
          <a:p>
            <a:pPr lvl="1">
              <a:spcAft>
                <a:spcPts val="300"/>
              </a:spcAft>
              <a:defRPr sz="1300"/>
            </a:pPr>
            <a:r>
              <a:t>• Modales plein écran</a:t>
            </a:r>
          </a:p>
          <a:p>
            <a:pPr lvl="1">
              <a:spcAft>
                <a:spcPts val="1000"/>
              </a:spcAft>
              <a:defRPr sz="1300"/>
            </a:pPr>
            <a:r>
              <a:t>• Navigation sticky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📱 Tablette (640px - 1024px)</a:t>
            </a:r>
          </a:p>
          <a:p>
            <a:pPr lvl="1">
              <a:spcAft>
                <a:spcPts val="300"/>
              </a:spcAft>
              <a:defRPr sz="1300"/>
            </a:pPr>
            <a:r>
              <a:t>• Grilles 2 colonnes</a:t>
            </a:r>
          </a:p>
          <a:p>
            <a:pPr lvl="1">
              <a:spcAft>
                <a:spcPts val="300"/>
              </a:spcAft>
              <a:defRPr sz="1300"/>
            </a:pPr>
            <a:r>
              <a:t>• Navigation classique</a:t>
            </a:r>
          </a:p>
          <a:p>
            <a:pPr lvl="1">
              <a:spcAft>
                <a:spcPts val="1000"/>
              </a:spcAft>
              <a:defRPr sz="1300"/>
            </a:pPr>
            <a:r>
              <a:t>• Modales adaptées (90% largeur)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💻 Desktop (&gt; 1024px)</a:t>
            </a:r>
          </a:p>
          <a:p>
            <a:pPr lvl="1">
              <a:spcAft>
                <a:spcPts val="300"/>
              </a:spcAft>
              <a:defRPr sz="1300"/>
            </a:pPr>
            <a:r>
              <a:t>• Grilles 3-4 colonnes</a:t>
            </a:r>
          </a:p>
          <a:p>
            <a:pPr lvl="1">
              <a:spcAft>
                <a:spcPts val="300"/>
              </a:spcAft>
              <a:defRPr sz="1300"/>
            </a:pPr>
            <a:r>
              <a:t>• Interface complète</a:t>
            </a:r>
          </a:p>
          <a:p>
            <a:pPr lvl="1">
              <a:spcAft>
                <a:spcPts val="1000"/>
              </a:spcAft>
              <a:defRPr sz="1300"/>
            </a:pPr>
            <a:r>
              <a:t>• Toutes fonctionnalités disponibles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🗑️ Nettoyage Automatique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600"/>
              </a:spcAft>
              <a:defRPr sz="2000" b="1">
                <a:solidFill>
                  <a:srgbClr val="00337F"/>
                </a:solidFill>
              </a:defRPr>
            </a:pPr>
            <a:r>
              <a:t>Suppression automatique des missions expirées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Fonctionnement : </a:t>
            </a:r>
          </a:p>
          <a:p>
            <a:pPr lvl="1">
              <a:spcAft>
                <a:spcPts val="1000"/>
              </a:spcAft>
              <a:defRPr sz="1400"/>
            </a:pPr>
            <a:r>
              <a:t>Suppression automatique le 1er de chaque mois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Règle : </a:t>
            </a:r>
          </a:p>
          <a:p>
            <a:pPr lvl="1">
              <a:spcAft>
                <a:spcPts val="1000"/>
              </a:spcAft>
              <a:defRPr sz="1400"/>
            </a:pPr>
            <a:r>
              <a:t>Missions terminées avant le mois précédent sont supprimées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Exemple : </a:t>
            </a:r>
          </a:p>
          <a:p>
            <a:pPr lvl="1">
              <a:spcAft>
                <a:spcPts val="1000"/>
              </a:spcAft>
              <a:defRPr sz="1400"/>
            </a:pPr>
            <a:r>
              <a:t>Le 1er avril → toutes les missions de mars (terminées) disparaissent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Gestion manuelle : </a:t>
            </a:r>
          </a:p>
          <a:p>
            <a:pPr lvl="1">
              <a:spcAft>
                <a:spcPts val="1000"/>
              </a:spcAft>
              <a:defRPr sz="1400"/>
            </a:pPr>
            <a:r>
              <a:t>Interface admin : vérification et suppression manuelle possible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Sécurité : </a:t>
            </a:r>
          </a:p>
          <a:p>
            <a:pPr lvl="1">
              <a:spcAft>
                <a:spcPts val="1000"/>
              </a:spcAft>
              <a:defRPr sz="1400"/>
            </a:pPr>
            <a:r>
              <a:t>Assignations supprimées automatiquement (CASCADE)</a:t>
            </a:r>
          </a:p>
          <a:p>
            <a:pPr>
              <a:defRPr sz="1600" b="1">
                <a:solidFill>
                  <a:srgbClr val="00337F"/>
                </a:solidFill>
              </a:defRPr>
            </a:pPr>
            <a:r>
              <a:t>• Logs : </a:t>
            </a:r>
          </a:p>
          <a:p>
            <a:pPr lvl="1">
              <a:spcAft>
                <a:spcPts val="1000"/>
              </a:spcAft>
              <a:defRPr sz="1400"/>
            </a:pPr>
            <a:r>
              <a:t>Traçabilité complète des suppressions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🔧 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Frontend</a:t>
            </a:r>
          </a:p>
          <a:p>
            <a:pPr lvl="1">
              <a:spcAft>
                <a:spcPts val="200"/>
              </a:spcAft>
              <a:defRPr sz="1300"/>
            </a:pPr>
            <a:r>
              <a:t>• HTML5 / CSS3 (Tailwind CSS)</a:t>
            </a:r>
          </a:p>
          <a:p>
            <a:pPr lvl="1">
              <a:spcAft>
                <a:spcPts val="200"/>
              </a:spcAft>
              <a:defRPr sz="1300"/>
            </a:pPr>
            <a:r>
              <a:t>• JavaScript ES6+ (Vanilla JS)</a:t>
            </a:r>
          </a:p>
          <a:p>
            <a:pPr lvl="1">
              <a:spcAft>
                <a:spcPts val="200"/>
              </a:spcAft>
              <a:defRPr sz="1300"/>
            </a:pPr>
            <a:r>
              <a:t>• Font Awesome Icons</a:t>
            </a:r>
          </a:p>
          <a:p>
            <a:pPr lvl="1">
              <a:spcAft>
                <a:spcPts val="200"/>
              </a:spcAft>
              <a:defRPr sz="1300"/>
            </a:pPr>
            <a:r>
              <a:t>• Day.js pour les dates</a:t>
            </a:r>
          </a:p>
          <a:p>
            <a:pPr lvl="1">
              <a:spcAft>
                <a:spcPts val="1000"/>
              </a:spcAft>
              <a:defRPr sz="1300"/>
            </a:pPr>
            <a:r>
              <a:t>• jsPDF pour l'export PDF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Backend</a:t>
            </a:r>
          </a:p>
          <a:p>
            <a:pPr lvl="1">
              <a:spcAft>
                <a:spcPts val="200"/>
              </a:spcAft>
              <a:defRPr sz="1300"/>
            </a:pPr>
            <a:r>
              <a:t>• Hono Framework (TypeScript)</a:t>
            </a:r>
          </a:p>
          <a:p>
            <a:pPr lvl="1">
              <a:spcAft>
                <a:spcPts val="200"/>
              </a:spcAft>
              <a:defRPr sz="1300"/>
            </a:pPr>
            <a:r>
              <a:t>• Cloudflare Workers</a:t>
            </a:r>
          </a:p>
          <a:p>
            <a:pPr lvl="1">
              <a:spcAft>
                <a:spcPts val="200"/>
              </a:spcAft>
              <a:defRPr sz="1300"/>
            </a:pPr>
            <a:r>
              <a:t>• API REST</a:t>
            </a:r>
          </a:p>
          <a:p>
            <a:pPr lvl="1">
              <a:spcAft>
                <a:spcPts val="1000"/>
              </a:spcAft>
              <a:defRPr sz="1300"/>
            </a:pPr>
            <a:r>
              <a:t>• JWT Authentication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Base de données</a:t>
            </a:r>
          </a:p>
          <a:p>
            <a:pPr lvl="1">
              <a:spcAft>
                <a:spcPts val="200"/>
              </a:spcAft>
              <a:defRPr sz="1300"/>
            </a:pPr>
            <a:r>
              <a:t>• Cloudflare D1 (SQLite distribué)</a:t>
            </a:r>
          </a:p>
          <a:p>
            <a:pPr lvl="1">
              <a:spcAft>
                <a:spcPts val="200"/>
              </a:spcAft>
              <a:defRPr sz="1300"/>
            </a:pPr>
            <a:r>
              <a:t>• Migrations SQL versionnées</a:t>
            </a:r>
          </a:p>
          <a:p>
            <a:pPr lvl="1">
              <a:spcAft>
                <a:spcPts val="1000"/>
              </a:spcAft>
              <a:defRPr sz="1300"/>
            </a:pPr>
            <a:r>
              <a:t>• Relations CASCADE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Déploiement</a:t>
            </a:r>
          </a:p>
          <a:p>
            <a:pPr lvl="1">
              <a:spcAft>
                <a:spcPts val="200"/>
              </a:spcAft>
              <a:defRPr sz="1300"/>
            </a:pPr>
            <a:r>
              <a:t>• Cloudflare Pages</a:t>
            </a:r>
          </a:p>
          <a:p>
            <a:pPr lvl="1">
              <a:spcAft>
                <a:spcPts val="200"/>
              </a:spcAft>
              <a:defRPr sz="1300"/>
            </a:pPr>
            <a:r>
              <a:t>• Edge Computing global</a:t>
            </a:r>
          </a:p>
          <a:p>
            <a:pPr lvl="1">
              <a:spcAft>
                <a:spcPts val="200"/>
              </a:spcAft>
              <a:defRPr sz="1300"/>
            </a:pPr>
            <a:r>
              <a:t>• HTTPS automatique</a:t>
            </a:r>
          </a:p>
          <a:p>
            <a:pPr lvl="1">
              <a:spcAft>
                <a:spcPts val="1000"/>
              </a:spcAft>
              <a:defRPr sz="1300"/>
            </a:pPr>
            <a:r>
              <a:t>• CDN intégré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7F"/>
                </a:solidFill>
              </a:defRPr>
            </a:pPr>
            <a:r>
              <a:t>✅ Bénéfices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⏱️ Gain de temps</a:t>
            </a:r>
          </a:p>
          <a:p>
            <a:pPr lvl="1">
              <a:spcAft>
                <a:spcPts val="1000"/>
              </a:spcAft>
              <a:defRPr sz="1400"/>
            </a:pPr>
            <a:r>
              <a:t>Automatisation de la gestion, réduction des tâches manuelles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📊 Visibilité en temps réel</a:t>
            </a:r>
          </a:p>
          <a:p>
            <a:pPr lvl="1">
              <a:spcAft>
                <a:spcPts val="1000"/>
              </a:spcAft>
              <a:defRPr sz="1400"/>
            </a:pPr>
            <a:r>
              <a:t>Suivi instantané des missions et affectations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📱 Accessibilité</a:t>
            </a:r>
          </a:p>
          <a:p>
            <a:pPr lvl="1">
              <a:spcAft>
                <a:spcPts val="1000"/>
              </a:spcAft>
              <a:defRPr sz="1400"/>
            </a:pPr>
            <a:r>
              <a:t>Consultable partout, sur tous les appareils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🔒 Sécurité</a:t>
            </a:r>
          </a:p>
          <a:p>
            <a:pPr lvl="1">
              <a:spcAft>
                <a:spcPts val="1000"/>
              </a:spcAft>
              <a:defRPr sz="1400"/>
            </a:pPr>
            <a:r>
              <a:t>Authentification JWT, données chiffrées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🚀 Performance</a:t>
            </a:r>
          </a:p>
          <a:p>
            <a:pPr lvl="1">
              <a:spcAft>
                <a:spcPts val="1000"/>
              </a:spcAft>
              <a:defRPr sz="1400"/>
            </a:pPr>
            <a:r>
              <a:t>Edge computing Cloudflare, latence minimale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💰 Coûts réduits</a:t>
            </a:r>
          </a:p>
          <a:p>
            <a:pPr lvl="1">
              <a:spcAft>
                <a:spcPts val="1000"/>
              </a:spcAft>
              <a:defRPr sz="1400"/>
            </a:pPr>
            <a:r>
              <a:t>Infrastructure serverless, pas de serveur à maintenir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♻️ Maintenance simplifiée</a:t>
            </a:r>
          </a:p>
          <a:p>
            <a:pPr lvl="1">
              <a:spcAft>
                <a:spcPts val="1000"/>
              </a:spcAft>
              <a:defRPr sz="1400"/>
            </a:pPr>
            <a:r>
              <a:t>Nettoyage automatique, mises à jour facilitées</a:t>
            </a:r>
          </a:p>
          <a:p>
            <a:pPr>
              <a:spcAft>
                <a:spcPts val="400"/>
              </a:spcAft>
              <a:defRPr sz="1800" b="1">
                <a:solidFill>
                  <a:srgbClr val="00337F"/>
                </a:solidFill>
              </a:defRPr>
            </a:pPr>
            <a:r>
              <a:t>👥 Meilleure coordination</a:t>
            </a:r>
          </a:p>
          <a:p>
            <a:pPr lvl="1">
              <a:spcAft>
                <a:spcPts val="1000"/>
              </a:spcAft>
              <a:defRPr sz="1400"/>
            </a:pPr>
            <a:r>
              <a:t>Communication optimisée entre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7F"/>
                </a:solidFill>
              </a:defRPr>
            </a:pPr>
            <a:r>
              <a:t>🗺️ Feuille de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✅ Phase 1 - Terminée</a:t>
            </a:r>
          </a:p>
          <a:p>
            <a:pPr lvl="1">
              <a:spcAft>
                <a:spcPts val="200"/>
              </a:spcAft>
              <a:defRPr sz="1300"/>
            </a:pPr>
            <a:r>
              <a:t>• Interface publique et admin</a:t>
            </a:r>
          </a:p>
          <a:p>
            <a:pPr lvl="1">
              <a:spcAft>
                <a:spcPts val="200"/>
              </a:spcAft>
              <a:defRPr sz="1300"/>
            </a:pPr>
            <a:r>
              <a:t>• Gestion missions/brigades/gendarmes</a:t>
            </a:r>
          </a:p>
          <a:p>
            <a:pPr lvl="1">
              <a:spcAft>
                <a:spcPts val="200"/>
              </a:spcAft>
              <a:defRPr sz="1300"/>
            </a:pPr>
            <a:r>
              <a:t>• Version mobile responsive</a:t>
            </a:r>
          </a:p>
          <a:p>
            <a:pPr lvl="1">
              <a:spcAft>
                <a:spcPts val="1000"/>
              </a:spcAft>
              <a:defRPr sz="1300"/>
            </a:pPr>
            <a:r>
              <a:t>• Nettoyage automatique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🚀 Phase 2 - Court terme (3 mois)</a:t>
            </a:r>
          </a:p>
          <a:p>
            <a:pPr lvl="1">
              <a:spcAft>
                <a:spcPts val="200"/>
              </a:spcAft>
              <a:defRPr sz="1300"/>
            </a:pPr>
            <a:r>
              <a:t>• PWA (Progressive Web App)</a:t>
            </a:r>
          </a:p>
          <a:p>
            <a:pPr lvl="1">
              <a:spcAft>
                <a:spcPts val="200"/>
              </a:spcAft>
              <a:defRPr sz="1300"/>
            </a:pPr>
            <a:r>
              <a:t>• Notifications push</a:t>
            </a:r>
          </a:p>
          <a:p>
            <a:pPr lvl="1">
              <a:spcAft>
                <a:spcPts val="200"/>
              </a:spcAft>
              <a:defRPr sz="1300"/>
            </a:pPr>
            <a:r>
              <a:t>• Mode hors ligne</a:t>
            </a:r>
          </a:p>
          <a:p>
            <a:pPr lvl="1">
              <a:spcAft>
                <a:spcPts val="1000"/>
              </a:spcAft>
              <a:defRPr sz="1300"/>
            </a:pPr>
            <a:r>
              <a:t>• Cron jobs Cloudflare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💡 Phase 3 - Moyen terme (6 mois)</a:t>
            </a:r>
          </a:p>
          <a:p>
            <a:pPr lvl="1">
              <a:spcAft>
                <a:spcPts val="200"/>
              </a:spcAft>
              <a:defRPr sz="1300"/>
            </a:pPr>
            <a:r>
              <a:t>• Tableau de bord analytique</a:t>
            </a:r>
          </a:p>
          <a:p>
            <a:pPr lvl="1">
              <a:spcAft>
                <a:spcPts val="200"/>
              </a:spcAft>
              <a:defRPr sz="1300"/>
            </a:pPr>
            <a:r>
              <a:t>• Rapports et statistiques</a:t>
            </a:r>
          </a:p>
          <a:p>
            <a:pPr lvl="1">
              <a:spcAft>
                <a:spcPts val="200"/>
              </a:spcAft>
              <a:defRPr sz="1300"/>
            </a:pPr>
            <a:r>
              <a:t>• Export Excel avancé</a:t>
            </a:r>
          </a:p>
          <a:p>
            <a:pPr lvl="1">
              <a:spcAft>
                <a:spcPts val="1000"/>
              </a:spcAft>
              <a:defRPr sz="1300"/>
            </a:pPr>
            <a:r>
              <a:t>• Intégration email automatique</a:t>
            </a:r>
          </a:p>
          <a:p>
            <a:pPr>
              <a:spcAft>
                <a:spcPts val="600"/>
              </a:spcAft>
              <a:defRPr sz="1600" b="1">
                <a:solidFill>
                  <a:srgbClr val="00337F"/>
                </a:solidFill>
              </a:defRPr>
            </a:pPr>
            <a:r>
              <a:t>🔮 Phase 4 - Long terme (12 mois)</a:t>
            </a:r>
          </a:p>
          <a:p>
            <a:pPr lvl="1">
              <a:spcAft>
                <a:spcPts val="200"/>
              </a:spcAft>
              <a:defRPr sz="1300"/>
            </a:pPr>
            <a:r>
              <a:t>• API publique</a:t>
            </a:r>
          </a:p>
          <a:p>
            <a:pPr lvl="1">
              <a:spcAft>
                <a:spcPts val="200"/>
              </a:spcAft>
              <a:defRPr sz="1300"/>
            </a:pPr>
            <a:r>
              <a:t>• Mobile app native (iOS/Android)</a:t>
            </a:r>
          </a:p>
          <a:p>
            <a:pPr lvl="1">
              <a:spcAft>
                <a:spcPts val="200"/>
              </a:spcAft>
              <a:defRPr sz="1300"/>
            </a:pPr>
            <a:r>
              <a:t>• Intégration planning</a:t>
            </a:r>
          </a:p>
          <a:p>
            <a:pPr lvl="1">
              <a:spcAft>
                <a:spcPts val="1000"/>
              </a:spcAft>
              <a:defRPr sz="1300"/>
            </a:pPr>
            <a:r>
              <a:t>• IA pour suggestions d'affectations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7F"/>
                </a:solidFill>
              </a:defRPr>
            </a:pPr>
            <a:r>
              <a:t>🎬 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  <a:defRPr sz="2400" b="1">
                <a:solidFill>
                  <a:srgbClr val="00337F"/>
                </a:solidFill>
              </a:defRPr>
            </a:pPr>
            <a:r>
              <a:t>URLs d'accès</a:t>
            </a:r>
          </a:p>
          <a:p>
            <a:pPr>
              <a:spcAft>
                <a:spcPts val="600"/>
              </a:spcAft>
              <a:defRPr sz="1800" b="1">
                <a:solidFill>
                  <a:srgbClr val="00337F"/>
                </a:solidFill>
              </a:defRPr>
            </a:pPr>
            <a:r>
              <a:t>🌐 Interface publique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https://gesres-missions.pages.dev</a:t>
            </a:r>
          </a:p>
          <a:p>
            <a:pPr>
              <a:spcAft>
                <a:spcPts val="600"/>
              </a:spcAft>
              <a:defRPr sz="1800" b="1">
                <a:solidFill>
                  <a:srgbClr val="00337F"/>
                </a:solidFill>
              </a:defRPr>
            </a:pPr>
            <a:r>
              <a:t>🔐 Interface admin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https://gesres-missions.pages.dev/admin</a:t>
            </a:r>
          </a:p>
          <a:p>
            <a:pPr>
              <a:spcAft>
                <a:spcPts val="600"/>
              </a:spcAft>
              <a:defRPr sz="1800" b="1">
                <a:solidFill>
                  <a:srgbClr val="00337F"/>
                </a:solidFill>
              </a:defRPr>
            </a:pPr>
            <a:r>
              <a:t>📱 Testable sur mobile</a:t>
            </a:r>
          </a:p>
          <a:p>
            <a:pPr lvl="1"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Scanner le QR code ou ouvrir l'URL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00337F"/>
                </a:solidFill>
              </a:defRPr>
            </a:pPr>
            <a:r>
              <a:t>👤 Identifiants de test</a:t>
            </a:r>
          </a:p>
          <a:p>
            <a:pPr>
              <a:spcAft>
                <a:spcPts val="600"/>
              </a:spcAft>
              <a:defRPr sz="1800" b="0">
                <a:solidFill>
                  <a:srgbClr val="00337F"/>
                </a:solidFill>
              </a:defRPr>
            </a:pPr>
            <a:r>
              <a:t>   • Utilisateur</a:t>
            </a:r>
          </a:p>
          <a:p>
            <a:pPr lvl="1">
              <a:spcAft>
                <a:spcPts val="1000"/>
              </a:spcAft>
              <a:defRPr sz="1600">
                <a:solidFill>
                  <a:srgbClr val="2962FF"/>
                </a:solidFill>
              </a:defRPr>
            </a:pPr>
            <a:r>
              <a:t>admin</a:t>
            </a:r>
          </a:p>
          <a:p>
            <a:pPr>
              <a:spcAft>
                <a:spcPts val="600"/>
              </a:spcAft>
              <a:defRPr sz="1800" b="0">
                <a:solidFill>
                  <a:srgbClr val="00337F"/>
                </a:solidFill>
              </a:defRPr>
            </a:pPr>
            <a:r>
              <a:t>   • Mot de passe</a:t>
            </a:r>
          </a:p>
          <a:p>
            <a:pPr lvl="1">
              <a:spcAft>
                <a:spcPts val="1000"/>
              </a:spcAft>
              <a:defRPr sz="1600">
                <a:solidFill>
                  <a:srgbClr val="2962FF"/>
                </a:solidFill>
              </a:defRPr>
            </a:pPr>
            <a:r>
              <a:t>admin123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Des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🌐 gesres-missions.pages.dev</a:t>
            </a:r>
          </a:p>
          <a:p>
            <a:r>
              <a:t>📧 contact@gendarmerie.fr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